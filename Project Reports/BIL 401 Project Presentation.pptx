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0" r:id="rId10"/>
    <p:sldId id="265" r:id="rId11"/>
    <p:sldId id="271" r:id="rId12"/>
    <p:sldId id="266" r:id="rId13"/>
    <p:sldId id="267" r:id="rId14"/>
    <p:sldId id="268" r:id="rId15"/>
    <p:sldId id="269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21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52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Arial"/>
              </a:defRPr>
            </a:pPr>
            <a:r>
              <a:rPr lang="tr-TR" sz="1300" b="0" i="0" u="none" strike="noStrike">
                <a:solidFill>
                  <a:srgbClr val="14213D"/>
                </a:solidFill>
                <a:latin typeface="Arial"/>
              </a:rPr>
              <a:t>Label Distribution (%)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Label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7A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DCB-4994-A68B-F741A0598AA6}"/>
              </c:ext>
            </c:extLst>
          </c:dPt>
          <c:dPt>
            <c:idx val="1"/>
            <c:bubble3D val="0"/>
            <c:spPr>
              <a:solidFill>
                <a:srgbClr val="E457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DCB-4994-A68B-F741A0598AA6}"/>
              </c:ext>
            </c:extLst>
          </c:dPt>
          <c:dPt>
            <c:idx val="2"/>
            <c:bubble3D val="0"/>
            <c:spPr>
              <a:solidFill>
                <a:srgbClr val="4C7E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DCB-4994-A68B-F741A0598AA6}"/>
              </c:ext>
            </c:extLst>
          </c:dPt>
          <c:dPt>
            <c:idx val="3"/>
            <c:bubble3D val="0"/>
            <c:spPr>
              <a:solidFill>
                <a:srgbClr val="8A2E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DCB-4994-A68B-F741A0598AA6}"/>
              </c:ext>
            </c:extLst>
          </c:dPt>
          <c:dPt>
            <c:idx val="4"/>
            <c:bubble3D val="0"/>
            <c:spPr>
              <a:solidFill>
                <a:srgbClr val="C9D3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DCB-4994-A68B-F741A0598AA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DCB-4994-A68B-F741A0598AA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DCB-4994-A68B-F741A0598AA6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DCB-4994-A68B-F741A0598AA6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DCB-4994-A68B-F741A0598AA6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DCB-4994-A68B-F741A0598AA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BENIGN</c:v>
                </c:pt>
                <c:pt idx="1">
                  <c:v>DoS Hulk</c:v>
                </c:pt>
                <c:pt idx="2">
                  <c:v>PortScan</c:v>
                </c:pt>
                <c:pt idx="3">
                  <c:v>DDoS</c:v>
                </c:pt>
                <c:pt idx="4">
                  <c:v>Other attacks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80.3</c:v>
                </c:pt>
                <c:pt idx="1">
                  <c:v>8.16</c:v>
                </c:pt>
                <c:pt idx="2">
                  <c:v>5.61</c:v>
                </c:pt>
                <c:pt idx="3">
                  <c:v>4.5199999999999996</c:v>
                </c:pt>
                <c:pt idx="4">
                  <c:v>1.41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DCB-4994-A68B-F741A0598A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4213D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Mid-stream lag (% of tier's own volume)</c:v>
                </c:pt>
              </c:strCache>
            </c:strRef>
          </c:tx>
          <c:spPr>
            <a:solidFill>
              <a:srgbClr val="4C7E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15C-4D3E-BF13-4A6FA90994B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15C-4D3E-BF13-4A6FA90994B8}"/>
              </c:ext>
            </c:extLst>
          </c:dPt>
          <c:dPt>
            <c:idx val="2"/>
            <c:invertIfNegative val="0"/>
            <c:bubble3D val="0"/>
            <c:spPr>
              <a:solidFill>
                <a:srgbClr val="E457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15C-4D3E-BF13-4A6FA90994B8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4213D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Tier 1
100 msg/s</c:v>
                </c:pt>
                <c:pt idx="1">
                  <c:v>Tier 2
1,000 msg/s</c:v>
                </c:pt>
                <c:pt idx="2">
                  <c:v>Tier 3
5,000 msg/s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5</c:v>
                </c:pt>
                <c:pt idx="2">
                  <c:v>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15C-4D3E-BF13-4A6FA90994B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21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l"/>
        <c:majorGridlines>
          <c:spPr>
            <a:ln w="12700" cap="flat">
              <a:solidFill>
                <a:srgbClr val="E4E9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tr-TR" b="0" i="0" u="none" strike="noStrike">
                    <a:solidFill>
                      <a:srgbClr val="000000"/>
                    </a:solidFill>
                    <a:latin typeface="Arial"/>
                  </a:rPr>
                  <a:t>Mid-stream lag (% of tier volume)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Peak utilization (%)</c:v>
                </c:pt>
              </c:strCache>
            </c:strRef>
          </c:tx>
          <c:spPr>
            <a:solidFill>
              <a:srgbClr val="4C7E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696-42C3-AAB9-13622C1DF57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696-42C3-AAB9-13622C1DF570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7696-42C3-AAB9-13622C1DF570}"/>
              </c:ext>
            </c:extLst>
          </c:dPt>
          <c:dPt>
            <c:idx val="3"/>
            <c:invertIfNegative val="0"/>
            <c:bubble3D val="0"/>
            <c:spPr>
              <a:solidFill>
                <a:srgbClr val="E457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696-42C3-AAB9-13622C1DF570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7696-42C3-AAB9-13622C1DF570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7696-42C3-AAB9-13622C1DF570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7696-42C3-AAB9-13622C1DF570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7696-42C3-AAB9-13622C1DF570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4213D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90.9</c:v>
                </c:pt>
                <c:pt idx="1">
                  <c:v>90.9</c:v>
                </c:pt>
                <c:pt idx="2">
                  <c:v>90.9</c:v>
                </c:pt>
                <c:pt idx="3">
                  <c:v>100</c:v>
                </c:pt>
                <c:pt idx="4">
                  <c:v>50</c:v>
                </c:pt>
                <c:pt idx="5">
                  <c:v>91.7</c:v>
                </c:pt>
                <c:pt idx="6">
                  <c:v>88.9</c:v>
                </c:pt>
                <c:pt idx="7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7696-42C3-AAB9-13622C1DF57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tr-TR" b="0" i="0" u="none" strike="noStrike">
                    <a:solidFill>
                      <a:srgbClr val="000000"/>
                    </a:solidFill>
                    <a:latin typeface="Arial"/>
                  </a:rPr>
                  <a:t>CPU core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21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5"/>
          <c:min val="0"/>
        </c:scaling>
        <c:delete val="0"/>
        <c:axPos val="l"/>
        <c:majorGridlines>
          <c:spPr>
            <a:ln w="12700" cap="flat">
              <a:solidFill>
                <a:srgbClr val="E4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0335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3EF43-C46F-21EB-28C3-5575BC42A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7B37DA-9C5B-A526-1CDF-85506A9454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8A4372-1BDA-49D7-C88B-5F61E2019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22028-388D-9C65-13A8-7D1C6FCE67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7910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D851D-173F-05CC-9574-0DBDC776A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1F144C-C59A-8709-CBD5-6C30123D2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49AAC7-185D-39B4-9F3B-3DCC19D67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F4459B-AA0C-EBCC-3217-0DD1425A88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1977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chethuhn/network-intrusion-datase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1051560"/>
            <a:ext cx="777240" cy="502920"/>
          </a:xfrm>
          <a:prstGeom prst="line">
            <a:avLst/>
          </a:prstGeom>
          <a:noFill/>
          <a:ln w="15875">
            <a:solidFill>
              <a:srgbClr val="4C7EA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 flipH="1">
            <a:off x="10012680" y="1051560"/>
            <a:ext cx="502920" cy="960120"/>
          </a:xfrm>
          <a:prstGeom prst="line">
            <a:avLst/>
          </a:prstGeom>
          <a:noFill/>
          <a:ln w="15875">
            <a:solidFill>
              <a:srgbClr val="4C7EA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9601200" y="914400"/>
            <a:ext cx="274320" cy="27432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10378440" y="594360"/>
            <a:ext cx="201168" cy="201168"/>
          </a:xfrm>
          <a:prstGeom prst="ellipse">
            <a:avLst/>
          </a:prstGeom>
          <a:solidFill>
            <a:srgbClr val="4C7EA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10424160" y="1737360"/>
            <a:ext cx="201168" cy="201168"/>
          </a:xfrm>
          <a:prstGeom prst="ellipse">
            <a:avLst/>
          </a:prstGeom>
          <a:solidFill>
            <a:srgbClr val="DDE6F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SYSTEMS  ·  FAULT TOLERANCE  ·  DISTRIBUTED STREAMING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Fault-Tolerant Real-Time Network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Intrusion Detection Pipeline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31520" y="41605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D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 +  Apache DataFusion  +  Apache Cassandra, orchestrated with Docker Compose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5074920"/>
            <a:ext cx="2926080" cy="0"/>
          </a:xfrm>
          <a:prstGeom prst="line">
            <a:avLst/>
          </a:prstGeom>
          <a:noFill/>
          <a:ln w="12700">
            <a:solidFill>
              <a:srgbClr val="4C7EA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731520" y="5257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Beril Aydın   ·   Kaan Baykal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5669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BIL401 — Systems Track  |  </a:t>
            </a:r>
            <a:r>
              <a:rPr lang="tr-TR" sz="1200" dirty="0">
                <a:solidFill>
                  <a:srgbClr val="D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TOBB ETU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CICIDS2017 — A Realistic Intrusion Detection Benchmark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248716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228600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291840" y="248716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2,830,743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91840" y="32461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228600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035040" y="248716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035040" y="32461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778240" y="228600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8778240" y="248716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~880 MB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778240" y="32461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Size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10607040" cy="1737360"/>
          </a:xfrm>
          <a:prstGeom prst="roundRect">
            <a:avLst>
              <a:gd name="adj" fmla="val 4737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868680" y="4526280"/>
            <a:ext cx="996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network-flow features per record, plus a class label </a:t>
            </a:r>
            <a:r>
              <a:rPr lang="en-US" sz="1500" dirty="0">
                <a:solidFill>
                  <a:srgbClr val="D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covering benign traffic and multiple attack types across 8 days of capture. Obtained from Kaggle and originally introduced by Sharafaldin, Lashkari, and Ghorbani [1] as a contemporary benchmark for intrusion detection research.</a:t>
            </a:r>
            <a:endParaRPr lang="tr-TR" sz="1500" dirty="0">
              <a:solidFill>
                <a:srgbClr val="DDE6F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ts val="2200"/>
              </a:lnSpc>
            </a:pPr>
            <a:r>
              <a:rPr lang="tr-TR" sz="1500" dirty="0" err="1">
                <a:solidFill>
                  <a:srgbClr val="D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r>
              <a:rPr lang="tr-TR" sz="1500" dirty="0">
                <a:solidFill>
                  <a:srgbClr val="D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500" dirty="0" err="1">
                <a:solidFill>
                  <a:srgbClr val="D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r>
              <a:rPr lang="tr-TR" sz="1500" dirty="0">
                <a:solidFill>
                  <a:srgbClr val="D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at: </a:t>
            </a:r>
            <a:r>
              <a:rPr lang="tr-TR" sz="1500" u="sng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https://www.kaggle.com/datasets/chethuhn/network-intrusion-dataset</a:t>
            </a:r>
            <a:r>
              <a:rPr lang="tr-TR" sz="1500" dirty="0">
                <a:solidFill>
                  <a:schemeClr val="bg1"/>
                </a:solidFill>
              </a:rPr>
              <a:t>.</a:t>
            </a:r>
            <a:endParaRPr lang="en-US"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Traffic Composition Before Streaming It</a:t>
            </a:r>
            <a:endParaRPr lang="en-US" sz="2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2148840"/>
          <a:ext cx="51206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943600" y="21488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Port skew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43600" y="2606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53 (DNS)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943600" y="2935224"/>
            <a:ext cx="4206240" cy="256032"/>
          </a:xfrm>
          <a:prstGeom prst="roundRect">
            <a:avLst>
              <a:gd name="adj" fmla="val 14286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5943600" y="2935224"/>
            <a:ext cx="4066833" cy="256032"/>
          </a:xfrm>
          <a:prstGeom prst="roundRect">
            <a:avLst>
              <a:gd name="adj" fmla="val 14286"/>
            </a:avLst>
          </a:prstGeom>
          <a:solidFill>
            <a:srgbClr val="4C7EA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10241280" y="289864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33.84%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0" y="3474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 (HTTP)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943600" y="3803904"/>
            <a:ext cx="4206240" cy="256032"/>
          </a:xfrm>
          <a:prstGeom prst="roundRect">
            <a:avLst>
              <a:gd name="adj" fmla="val 14286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Shape 9"/>
          <p:cNvSpPr/>
          <p:nvPr/>
        </p:nvSpPr>
        <p:spPr>
          <a:xfrm>
            <a:off x="5943600" y="3803904"/>
            <a:ext cx="2627097" cy="256032"/>
          </a:xfrm>
          <a:prstGeom prst="roundRect">
            <a:avLst>
              <a:gd name="adj" fmla="val 14286"/>
            </a:avLst>
          </a:prstGeom>
          <a:solidFill>
            <a:srgbClr val="4C7EA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/>
          <p:nvPr/>
        </p:nvSpPr>
        <p:spPr>
          <a:xfrm>
            <a:off x="10241280" y="376732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21.86%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43600" y="43434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443 (HTTPS)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943600" y="4672584"/>
            <a:ext cx="4206240" cy="256032"/>
          </a:xfrm>
          <a:prstGeom prst="roundRect">
            <a:avLst>
              <a:gd name="adj" fmla="val 14286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Shape 13"/>
          <p:cNvSpPr/>
          <p:nvPr/>
        </p:nvSpPr>
        <p:spPr>
          <a:xfrm>
            <a:off x="5943600" y="4672584"/>
            <a:ext cx="2146384" cy="256032"/>
          </a:xfrm>
          <a:prstGeom prst="roundRect">
            <a:avLst>
              <a:gd name="adj" fmla="val 14286"/>
            </a:avLst>
          </a:prstGeom>
          <a:solidFill>
            <a:srgbClr val="4C7EA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4"/>
          <p:cNvSpPr/>
          <p:nvPr/>
        </p:nvSpPr>
        <p:spPr>
          <a:xfrm>
            <a:off x="10241280" y="463600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17.86%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943600" y="5349240"/>
            <a:ext cx="5669280" cy="1417320"/>
          </a:xfrm>
          <a:prstGeom prst="roundRect">
            <a:avLst>
              <a:gd name="adj" fmla="val 5806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6"/>
          <p:cNvSpPr/>
          <p:nvPr/>
        </p:nvSpPr>
        <p:spPr>
          <a:xfrm>
            <a:off x="6172200" y="5504688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</a:t>
            </a:r>
            <a:r>
              <a:rPr lang="en-US" sz="12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natural imbalance was deliberately chosen as the Kafka partitioning key, so partition-level load distribution could be stress-tested rather than masked by an artificially uniform key.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" y="61722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Missing/infinite values: only 2,867 rows (0.10%), concentrated in Flow Bytes/s and Flow Packets/s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CSVs to a Stream-Ready Dataset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4C7EA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34440" y="231343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Duplicate Columns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679192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“Fwd Header Length” appeared twice in the header; deduplicated so DataFusion's schema inference doesn't collapse fields.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4C7EA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327355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Encoding Corruption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639312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 use cp1252, not UTF-8/latin1; reading with the wrong encoding corrupted “Web Attack” labels.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457200" cy="457200"/>
          </a:xfrm>
          <a:prstGeom prst="ellipse">
            <a:avLst/>
          </a:prstGeom>
          <a:solidFill>
            <a:srgbClr val="4C7EA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34440" y="423367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Incomplete Rows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599432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with missing or infinite values in any column are removed entirely, rather than imputed.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10607040" cy="960120"/>
          </a:xfrm>
          <a:prstGeom prst="roundRect">
            <a:avLst>
              <a:gd name="adj" fmla="val 8571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822960" y="546811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2,830,743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2960" y="592531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206240" y="546811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2,867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206240" y="592531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(0.10%)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589520" y="546811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2,827,876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589520" y="592531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Rows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Four-Layer Streaming 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14213D"/>
          </a:solidFill>
          <a:ln/>
          <a:effectLst>
            <a:outerShdw blurRad="76200" dist="38100" dir="5400000" algn="bl" rotWithShape="0">
              <a:srgbClr val="1B2A4A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28529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58368" y="3337560"/>
            <a:ext cx="21122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Injects real UTC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per row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880360" y="3429000"/>
            <a:ext cx="384048" cy="0"/>
          </a:xfrm>
          <a:prstGeom prst="line">
            <a:avLst/>
          </a:prstGeom>
          <a:noFill/>
          <a:ln w="25400">
            <a:solidFill>
              <a:srgbClr val="6B7A90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3264408" y="265176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4C7EA8"/>
          </a:solidFill>
          <a:ln/>
          <a:effectLst>
            <a:outerShdw blurRad="76200" dist="38100" dir="5400000" algn="bl" rotWithShape="0">
              <a:srgbClr val="1B2A4A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264408" y="28529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374136" y="3337560"/>
            <a:ext cx="21122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 by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Port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596128" y="3429000"/>
            <a:ext cx="384048" cy="0"/>
          </a:xfrm>
          <a:prstGeom prst="line">
            <a:avLst/>
          </a:prstGeom>
          <a:noFill/>
          <a:ln w="25400">
            <a:solidFill>
              <a:srgbClr val="6B7A90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5980176" y="265176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4C7EA8"/>
          </a:solidFill>
          <a:ln/>
          <a:effectLst>
            <a:outerShdw blurRad="76200" dist="38100" dir="5400000" algn="bl" rotWithShape="0">
              <a:srgbClr val="1B2A4A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5980176" y="28529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DataFusion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089904" y="3337560"/>
            <a:ext cx="21122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+ event-time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aggregation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311896" y="3429000"/>
            <a:ext cx="384048" cy="0"/>
          </a:xfrm>
          <a:prstGeom prst="line">
            <a:avLst/>
          </a:prstGeom>
          <a:noFill/>
          <a:ln w="25400">
            <a:solidFill>
              <a:srgbClr val="6B7A90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8695944" y="265176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14213D"/>
          </a:solidFill>
          <a:ln/>
          <a:effectLst>
            <a:outerShdw blurRad="76200" dist="38100" dir="5400000" algn="bl" rotWithShape="0">
              <a:srgbClr val="1B2A4A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8695944" y="28529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805672" y="3337560"/>
            <a:ext cx="21122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anomalies &amp;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windowed metrics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6177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service's JVM heap is explicitly capped; the pipeline runs entirely inside Docker Compose on a single development machine.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868680" y="5486400"/>
            <a:ext cx="502920" cy="50292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868680" y="5486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54480" y="5349240"/>
            <a:ext cx="9418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Systems, not signatures: </a:t>
            </a: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ground-truth label is used only as a filtering predicate, exercising the same partition-routing pathway a production threshold- or model-based alert would use — without requiring a bespoke detection model.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TOLERANCE BY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Single-Node Prototype to Fault-Tolerant Cluster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120640" cy="3749040"/>
          </a:xfrm>
          <a:prstGeom prst="roundRect">
            <a:avLst>
              <a:gd name="adj" fmla="val 2439"/>
            </a:avLst>
          </a:prstGeom>
          <a:solidFill>
            <a:srgbClr val="FBEFE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1005840" y="2743200"/>
            <a:ext cx="502920" cy="502920"/>
          </a:xfrm>
          <a:prstGeom prst="ellipse">
            <a:avLst/>
          </a:prstGeom>
          <a:solidFill>
            <a:srgbClr val="B0392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91640" y="27614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Single-Node (Prototype)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35204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✗"/>
            </a:pPr>
            <a:r>
              <a:rPr lang="en-US" sz="1500" dirty="0">
                <a:solidFill>
                  <a:srgbClr val="6B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Kafka broker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4114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✗"/>
            </a:pPr>
            <a:r>
              <a:rPr lang="en-US" sz="1500" dirty="0">
                <a:solidFill>
                  <a:srgbClr val="6B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Cassandra node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47091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✗"/>
            </a:pPr>
            <a:r>
              <a:rPr lang="en-US" sz="1500" dirty="0">
                <a:solidFill>
                  <a:srgbClr val="6B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factor 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53035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✗"/>
            </a:pPr>
            <a:r>
              <a:rPr lang="en-US" sz="1500" dirty="0">
                <a:solidFill>
                  <a:srgbClr val="6B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replica if a component fails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0" y="2377440"/>
            <a:ext cx="5120640" cy="3749040"/>
          </a:xfrm>
          <a:prstGeom prst="roundRect">
            <a:avLst>
              <a:gd name="adj" fmla="val 2439"/>
            </a:avLst>
          </a:prstGeom>
          <a:solidFill>
            <a:srgbClr val="EAF4F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6766560" y="2743200"/>
            <a:ext cx="502920" cy="502920"/>
          </a:xfrm>
          <a:prstGeom prst="ellipse">
            <a:avLst/>
          </a:prstGeom>
          <a:solidFill>
            <a:srgbClr val="1F7A5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676656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52360" y="27614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Multi-Node (Final)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58000" y="35204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500" dirty="0">
                <a:solidFill>
                  <a:srgbClr val="1B5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Kafka brokers, replication factor 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0" y="4114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500" dirty="0">
                <a:solidFill>
                  <a:srgbClr val="1B5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Cassandra nodes, replication factor 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0" y="47091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500" dirty="0">
                <a:solidFill>
                  <a:srgbClr val="1B5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min.insync.replicas = 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0" y="53035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500" dirty="0">
                <a:solidFill>
                  <a:srgbClr val="1B5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Tolerates one broker or node failure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 rot="5400000">
            <a:off x="5922112" y="1691640"/>
            <a:ext cx="384048" cy="457200"/>
          </a:xfrm>
          <a:prstGeom prst="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0" y="278892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79476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Killing a Kafka broker </a:t>
            </a:r>
            <a:r>
              <a:rPr lang="tr-TR" sz="1900" i="1" dirty="0" err="1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tr-TR" sz="1900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900" i="1" dirty="0" err="1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</a:t>
            </a:r>
            <a:r>
              <a:rPr lang="tr-TR" sz="1900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900" i="1" dirty="0" err="1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r>
              <a:rPr lang="tr-TR" sz="1900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900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mid-stream — in real time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489204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D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producer  →  kafka1 / kafka2 / kafka3  →  datafusion consumer  →  cassandra1 / cassandra2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FAULT INJECTION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Message Loss Under Live Failure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2514600" cy="1828800"/>
          </a:xfrm>
          <a:prstGeom prst="roundRect">
            <a:avLst>
              <a:gd name="adj" fmla="val 4500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258775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3,000 / 3,000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34747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Delivered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91840" y="2331720"/>
            <a:ext cx="2514600" cy="1828800"/>
          </a:xfrm>
          <a:prstGeom prst="roundRect">
            <a:avLst>
              <a:gd name="adj" fmla="val 4500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291840" y="258775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29000" y="34747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Lost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2331720"/>
            <a:ext cx="2514600" cy="1828800"/>
          </a:xfrm>
          <a:prstGeom prst="roundRect">
            <a:avLst>
              <a:gd name="adj" fmla="val 4500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035040" y="258775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172200" y="34747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Recovery Time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778240" y="2331720"/>
            <a:ext cx="2514600" cy="1828800"/>
          </a:xfrm>
          <a:prstGeom prst="roundRect">
            <a:avLst>
              <a:gd name="adj" fmla="val 4500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8778240" y="258775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/ 7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915400" y="34747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Replicated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384048" cy="384048"/>
          </a:xfrm>
          <a:prstGeom prst="ellipse">
            <a:avLst/>
          </a:prstGeom>
          <a:solidFill>
            <a:srgbClr val="1F7A5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548640" y="4572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" y="454456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broker (kafka2) stopped mid-stream  —  </a:t>
            </a: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leadership reassigned automatically; broker rejoined ISR in 15 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384048" cy="384048"/>
          </a:xfrm>
          <a:prstGeom prst="ellipse">
            <a:avLst/>
          </a:prstGeom>
          <a:solidFill>
            <a:srgbClr val="1F7A5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548640" y="5257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" y="523036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 node (cassandra1) stopped mid-stream  —  </a:t>
            </a: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wrote uninterrupted to the surviving node; data replicated back on recovery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1D4098-CAD6-9524-AD9A-B789F4166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6F633C3-ED2F-F431-A25F-D3F261869D12}"/>
              </a:ext>
            </a:extLst>
          </p:cNvPr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541AE52-ED4F-4DF2-7D34-FEADEBAA9E97}"/>
              </a:ext>
            </a:extLst>
          </p:cNvPr>
          <p:cNvSpPr/>
          <p:nvPr/>
        </p:nvSpPr>
        <p:spPr>
          <a:xfrm rot="5400000">
            <a:off x="5922112" y="1691640"/>
            <a:ext cx="384048" cy="457200"/>
          </a:xfrm>
          <a:prstGeom prst="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E843078-12C4-C191-0C12-7A672FEB04C1}"/>
              </a:ext>
            </a:extLst>
          </p:cNvPr>
          <p:cNvSpPr/>
          <p:nvPr/>
        </p:nvSpPr>
        <p:spPr>
          <a:xfrm>
            <a:off x="0" y="278892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5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E49A66D-CB45-AB3F-54EC-C02502E228A3}"/>
              </a:ext>
            </a:extLst>
          </p:cNvPr>
          <p:cNvSpPr/>
          <p:nvPr/>
        </p:nvSpPr>
        <p:spPr>
          <a:xfrm>
            <a:off x="0" y="379476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tr-TR" sz="1900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</a:t>
            </a:r>
            <a:r>
              <a:rPr lang="tr-TR" sz="1900" i="1" dirty="0" err="1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r>
              <a:rPr lang="tr-TR" sz="1900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900" i="1" dirty="0" err="1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r>
              <a:rPr lang="tr-TR" sz="1900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Benchmarking</a:t>
            </a:r>
            <a:endParaRPr lang="en-US" sz="1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9F65A31-2C8F-322E-598D-7B94BADF29EB}"/>
              </a:ext>
            </a:extLst>
          </p:cNvPr>
          <p:cNvSpPr/>
          <p:nvPr/>
        </p:nvSpPr>
        <p:spPr>
          <a:xfrm>
            <a:off x="731520" y="489204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tr-TR" sz="1300" dirty="0">
                <a:solidFill>
                  <a:schemeClr val="bg1"/>
                </a:solidFill>
                <a:latin typeface="Consolas" panose="020B0609020204030204" pitchFamily="49" charset="0"/>
              </a:rPr>
              <a:t>100 → 1,000 → 5,000 </a:t>
            </a:r>
            <a:r>
              <a:rPr lang="tr-TR" sz="1300" dirty="0" err="1">
                <a:solidFill>
                  <a:schemeClr val="bg1"/>
                </a:solidFill>
                <a:latin typeface="Consolas" panose="020B0609020204030204" pitchFamily="49" charset="0"/>
              </a:rPr>
              <a:t>msgs</a:t>
            </a:r>
            <a:r>
              <a:rPr lang="tr-TR" sz="1300" dirty="0">
                <a:solidFill>
                  <a:schemeClr val="bg1"/>
                </a:solidFill>
                <a:latin typeface="Consolas" panose="020B0609020204030204" pitchFamily="49" charset="0"/>
              </a:rPr>
              <a:t>/</a:t>
            </a:r>
            <a:r>
              <a:rPr lang="tr-TR" sz="1300" dirty="0" err="1">
                <a:solidFill>
                  <a:schemeClr val="bg1"/>
                </a:solidFill>
                <a:latin typeface="Consolas" panose="020B0609020204030204" pitchFamily="49" charset="0"/>
              </a:rPr>
              <a:t>sec</a:t>
            </a:r>
            <a:endParaRPr lang="en-US" sz="13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716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THROUGHPUT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Sustainable Throughput Lies Between 1,000–5,000 msg/s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2331720"/>
          <a:ext cx="69494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2331720"/>
            <a:ext cx="3794760" cy="4023360"/>
          </a:xfrm>
          <a:prstGeom prst="roundRect">
            <a:avLst>
              <a:gd name="adj" fmla="val 2169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8092440" y="2560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at every tier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092440" y="3063240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8366760" y="294436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lag fully resolves to 0 once ingestion stops — at every tier.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092440" y="3977640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/>
          <p:nvPr/>
        </p:nvSpPr>
        <p:spPr>
          <a:xfrm>
            <a:off x="8366760" y="385876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3's backlog (77% of its own volume) is ~15x Tier 1/2 — a real ceiling, not noise.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92440" y="4892040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/>
          <p:nvPr/>
        </p:nvSpPr>
        <p:spPr>
          <a:xfrm>
            <a:off x="8366760" y="477316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self-recovers: burst load trades immediate consistency for eventual catch-up.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15D4CC-EEFC-04AF-5D8F-06F349849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C56C0D2-89DF-772D-E2CF-5BF75918CEA2}"/>
              </a:ext>
            </a:extLst>
          </p:cNvPr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1B90600-F39A-5952-3843-413ECF29B374}"/>
              </a:ext>
            </a:extLst>
          </p:cNvPr>
          <p:cNvSpPr/>
          <p:nvPr/>
        </p:nvSpPr>
        <p:spPr>
          <a:xfrm rot="5400000">
            <a:off x="5922112" y="1691640"/>
            <a:ext cx="384048" cy="457200"/>
          </a:xfrm>
          <a:prstGeom prst="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D8EE487-B665-52E0-375F-BC86B0A7139A}"/>
              </a:ext>
            </a:extLst>
          </p:cNvPr>
          <p:cNvSpPr/>
          <p:nvPr/>
        </p:nvSpPr>
        <p:spPr>
          <a:xfrm>
            <a:off x="0" y="278892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5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FB52340-064C-074D-2D14-27380647DAA5}"/>
              </a:ext>
            </a:extLst>
          </p:cNvPr>
          <p:cNvSpPr/>
          <p:nvPr/>
        </p:nvSpPr>
        <p:spPr>
          <a:xfrm>
            <a:off x="0" y="379476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900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</a:t>
            </a:r>
            <a:r>
              <a:rPr lang="tr-TR" sz="1900" i="1" dirty="0" err="1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r>
              <a:rPr lang="tr-TR" sz="1900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900" i="1" dirty="0" err="1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</a:t>
            </a:r>
            <a:r>
              <a:rPr lang="tr-TR" sz="1900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900" i="1" dirty="0" err="1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tr-TR" sz="1900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900" i="1" dirty="0" err="1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</a:t>
            </a:r>
            <a:endParaRPr lang="en-US" sz="1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6873369-5D20-6B15-2DB3-83F44152DED0}"/>
              </a:ext>
            </a:extLst>
          </p:cNvPr>
          <p:cNvSpPr/>
          <p:nvPr/>
        </p:nvSpPr>
        <p:spPr>
          <a:xfrm>
            <a:off x="731520" y="489204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966081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PARALLELISM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DataFusion Activates All Available CPU Cores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2286000"/>
          <a:ext cx="73152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2286000"/>
            <a:ext cx="3520440" cy="3749040"/>
          </a:xfrm>
          <a:prstGeom prst="roundRect">
            <a:avLst>
              <a:gd name="adj" fmla="val 2338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8321040" y="25146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/ 8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8321040" y="32461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D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 exceeded 25% utilization during the query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321040" y="3977640"/>
            <a:ext cx="2834640" cy="0"/>
          </a:xfrm>
          <a:prstGeom prst="line">
            <a:avLst/>
          </a:prstGeom>
          <a:noFill/>
          <a:ln w="12700">
            <a:solidFill>
              <a:srgbClr val="4C7EA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8321040" y="4160520"/>
            <a:ext cx="30632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note: </a:t>
            </a:r>
            <a:r>
              <a:rPr lang="en-US" sz="1150" i="1" dirty="0">
                <a:solidFill>
                  <a:srgbClr val="D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vary run-to-run (OS thread scheduling) — the script is re-run live, not a fixed screenshot.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Achievements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22960" y="260604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258775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Streaming Pipeline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508760" y="3044952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+ DataFusion + Cassandra integrated end-to-end with event-time tumbling windows.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233172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6355080" y="260604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35508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40880" y="258775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Fault Tolerance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040880" y="3044952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fault injection, not assumed configuration — broker and node failure both tested live.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822960" y="457200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822960" y="4572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08760" y="455371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Throughput Ceiling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508760" y="5010912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1,000–5,000 msg/s boundary identified via progressive load, with graceful self-recovery beyond it.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0760" y="429768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6355080" y="457200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6355080" y="4572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40880" y="455371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Multi-Core Parallelism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040880" y="5010912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query plans and live CPU sampling confirm genuine 8-core execution, not just configuration.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4C7EA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34440" y="231343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Ground-Truth Labels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67919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label-based predicate with a genuine unsupervised or statistical detection rule.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10607040" cy="0"/>
          </a:xfrm>
          <a:prstGeom prst="line">
            <a:avLst/>
          </a:prstGeom>
          <a:noFill/>
          <a:ln w="12700">
            <a:solidFill>
              <a:srgbClr val="E4E9E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rgbClr val="4C7EA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341071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Narrower Throughput Ceiling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77647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intermediate load tiers between 1,000 and 5,000 msg/s to pinpoint the exact boundary.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10607040" cy="0"/>
          </a:xfrm>
          <a:prstGeom prst="line">
            <a:avLst/>
          </a:prstGeom>
          <a:noFill/>
          <a:ln w="12700">
            <a:solidFill>
              <a:srgbClr val="E4E9E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457200" cy="457200"/>
          </a:xfrm>
          <a:prstGeom prst="ellipse">
            <a:avLst/>
          </a:prstGeom>
          <a:solidFill>
            <a:srgbClr val="4C7EA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54864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450799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Serialization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487375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Kafka payloads from JSON to Arrow or Avro to reduce deserialization overhead.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486400"/>
            <a:ext cx="10607040" cy="0"/>
          </a:xfrm>
          <a:prstGeom prst="line">
            <a:avLst/>
          </a:prstGeom>
          <a:noFill/>
          <a:ln w="12700">
            <a:solidFill>
              <a:srgbClr val="E4E9E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548640" y="5623560"/>
            <a:ext cx="457200" cy="457200"/>
          </a:xfrm>
          <a:prstGeom prst="ellipse">
            <a:avLst/>
          </a:prstGeom>
          <a:solidFill>
            <a:srgbClr val="4C7EA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548640" y="5623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34440" y="560527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Full-Scale End-to-End Run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597103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the complete 2.8M-record dataset through the pipeline as the concluding validation.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914400"/>
            <a:ext cx="274320" cy="27432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10378440" y="594360"/>
            <a:ext cx="201168" cy="201168"/>
          </a:xfrm>
          <a:prstGeom prst="ellipse">
            <a:avLst/>
          </a:prstGeom>
          <a:solidFill>
            <a:srgbClr val="4C7EA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10424160" y="1737360"/>
            <a:ext cx="201168" cy="201168"/>
          </a:xfrm>
          <a:prstGeom prst="ellipse">
            <a:avLst/>
          </a:prstGeom>
          <a:solidFill>
            <a:srgbClr val="DDE6F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9692640" y="1051560"/>
            <a:ext cx="777240" cy="502920"/>
          </a:xfrm>
          <a:prstGeom prst="line">
            <a:avLst/>
          </a:prstGeom>
          <a:noFill/>
          <a:ln w="15875">
            <a:solidFill>
              <a:srgbClr val="4C7EA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 flipH="1">
            <a:off x="10012680" y="1051560"/>
            <a:ext cx="502920" cy="960120"/>
          </a:xfrm>
          <a:prstGeom prst="line">
            <a:avLst/>
          </a:prstGeom>
          <a:noFill/>
          <a:ln w="15875">
            <a:solidFill>
              <a:srgbClr val="4C7EA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1520" y="4709160"/>
            <a:ext cx="2926080" cy="0"/>
          </a:xfrm>
          <a:prstGeom prst="line">
            <a:avLst/>
          </a:prstGeom>
          <a:noFill/>
          <a:ln w="12700">
            <a:solidFill>
              <a:srgbClr val="4C7EA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731520" y="4892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Beril Aydın   ·   Kaan Baykal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D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https://github.com/Berilay6/Real-Time-Network-Intrusion-Detection-Pipeline —  BIL401 Systems Track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890</Words>
  <Application>Microsoft Office PowerPoint</Application>
  <PresentationFormat>Geniş ekran</PresentationFormat>
  <Paragraphs>160</Paragraphs>
  <Slides>15</Slides>
  <Notes>15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Beril AYDIN</cp:lastModifiedBy>
  <cp:revision>7</cp:revision>
  <dcterms:created xsi:type="dcterms:W3CDTF">2026-08-12T15:48:41Z</dcterms:created>
  <dcterms:modified xsi:type="dcterms:W3CDTF">2026-08-13T13:18:26Z</dcterms:modified>
</cp:coreProperties>
</file>